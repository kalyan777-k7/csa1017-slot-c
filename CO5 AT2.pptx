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133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66216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0861" y="2560320"/>
            <a:ext cx="12157787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for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40861" y="40690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6216" y="5989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23616" y="598932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82184" y="5989320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9DC9C1-6BA1-DE1B-DAE0-38191D3F1414}"/>
              </a:ext>
            </a:extLst>
          </p:cNvPr>
          <p:cNvSpPr txBox="1"/>
          <p:nvPr/>
        </p:nvSpPr>
        <p:spPr>
          <a:xfrm>
            <a:off x="7660433" y="5065990"/>
            <a:ext cx="31817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Presented by: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N . Kalyan Reddy  (192424232)</a:t>
            </a:r>
            <a:endParaRPr lang="en-IN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the Emerging Technology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54B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Deep Learning for Computer Vision (DL-CV) is the branch of artificial intelligence that trains multi-layered neural networks to interpret, analyze, and understand digital images and video the way the human visual system does.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8160" y="420624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54B6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Instead of hand-coding rules for detecting edges, shapes or objects, DL-CV systems learn these features automatically from thousands or millions of labeled images.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0" y="1417320"/>
            <a:ext cx="5029200" cy="4709160"/>
          </a:xfrm>
          <a:prstGeom prst="roundRect">
            <a:avLst>
              <a:gd name="adj" fmla="val 2330"/>
            </a:avLst>
          </a:prstGeom>
          <a:solidFill>
            <a:srgbClr val="12163A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1691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0" y="201168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pixels to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949440" y="30175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D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949440" y="33832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AlexNet's ImageNet win sparked the deep-learning revolution in vision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395020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D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100M+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949440" y="43159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Cameras &amp; sensors generating visual data across industries today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0" y="488289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D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95%+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949440" y="524865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reached or exceeded on several benchmark vision tasks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and Motivation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76479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of Manual Vision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rule-based image processing cannot generalize across lighting, angle, occlusion, or scale variations.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783080"/>
            <a:ext cx="502920" cy="502920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176479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Explosion of Visual Data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Billions of images and video frames are generated daily by phones, cameras, satellites, and sensors — far beyond manual analysis capacity.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0965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 Automation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470916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 need machines that can see and decide in real time: self-driving cars, quality inspection, diagnostics, surveillance.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84048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4114800"/>
            <a:ext cx="502920" cy="502920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86600" y="409651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Human-Level Accuracy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0" y="470916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networks now match or exceed human performance on tasks like image classification, opening safety-critical applications.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Principle /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Convolutional Neural Network (CNN) pipeline transforms raw pixels into a prediction through successive learned stages.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0848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2163A"/>
          </a:solidFill>
          <a:ln w="15875">
            <a:solidFill>
              <a:srgbClr val="121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0576" y="2450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2288" y="276148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Image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2288" y="327355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pixel grid (RGB values)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072488" y="237744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28520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5B4F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38248" y="2450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19960" y="276148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19960" y="327355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filters detect edges &amp; textures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0160" y="237744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276192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5B4F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5920" y="2450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67632" y="276148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67632" y="327355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Downsamples, keeps key features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67832" y="237744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23864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5B4F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3592" y="2450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15304" y="276148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Maps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15304" y="327355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layers learn shapes &amp; objects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15504" y="237744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171536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5B4F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1264" y="2450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62976" y="276148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Connected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62976" y="327355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features for reasoning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63176" y="2377440"/>
            <a:ext cx="256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119208" y="2377440"/>
            <a:ext cx="1691640" cy="1371600"/>
          </a:xfrm>
          <a:prstGeom prst="roundRect">
            <a:avLst>
              <a:gd name="adj" fmla="val 6667"/>
            </a:avLst>
          </a:prstGeom>
          <a:solidFill>
            <a:srgbClr val="12163A"/>
          </a:solidFill>
          <a:ln w="15875">
            <a:solidFill>
              <a:srgbClr val="1216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28936" y="2450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210648" y="2761488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210648" y="327355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label / detection / segmentation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42976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2163A"/>
          </a:solidFill>
          <a:ln/>
        </p:spPr>
      </p:sp>
      <p:sp>
        <p:nvSpPr>
          <p:cNvPr id="36" name="Shape 34"/>
          <p:cNvSpPr/>
          <p:nvPr/>
        </p:nvSpPr>
        <p:spPr>
          <a:xfrm>
            <a:off x="868680" y="5303520"/>
            <a:ext cx="457200" cy="457200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508760" y="5257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508760" y="55778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+ pooling layers learn hierarchical visual patterns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63640" y="5303520"/>
            <a:ext cx="457200" cy="457200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03720" y="5257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903720" y="55778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+ softmax layers map features to output classes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Components and Technologies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69164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5B4FE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69164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37744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Convolutional Neural Networks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83464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architecture for spatial feature learning from images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463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1144" y="169164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5B4FE9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169164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RNN/LSTM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81144" y="237744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Vision Models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81144" y="283464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video and temporal visual data understanding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169164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5B4FE9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169164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357616" y="237744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Adversarial Networks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57616" y="2834640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augment, or enhance realistic visual content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67912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096512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5B4FE9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096512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4672" y="4782312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Transformers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4672" y="523951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Attention-based models rivaling CNNs on large-scale vision tasks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5112" y="3867912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1144" y="4096512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5B4FE9"/>
          </a:solidFill>
          <a:ln/>
        </p:spPr>
      </p:sp>
      <p:sp>
        <p:nvSpPr>
          <p:cNvPr id="26" name="Text 24"/>
          <p:cNvSpPr/>
          <p:nvPr/>
        </p:nvSpPr>
        <p:spPr>
          <a:xfrm>
            <a:off x="4581144" y="4096512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81144" y="4782312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Pretrained Backbones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81144" y="523951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models like ResNet, VGG, EfficientNet for new tasks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01584" y="3867912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7616" y="4096512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5B4FE9"/>
          </a:solidFill>
          <a:ln/>
        </p:spPr>
      </p:sp>
      <p:sp>
        <p:nvSpPr>
          <p:cNvPr id="31" name="Text 29"/>
          <p:cNvSpPr/>
          <p:nvPr/>
        </p:nvSpPr>
        <p:spPr>
          <a:xfrm>
            <a:off x="8357616" y="4096512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GPU/TPU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57616" y="4782312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Acceleration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57616" y="5239512"/>
            <a:ext cx="30083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compute enabling training on massive image datasets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/ Real-World 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C2154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64792"/>
            <a:ext cx="502920" cy="502920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" y="237744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788920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detection, radiology scan analysis, diagnostic imaging support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508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C2154"/>
          </a:solidFill>
          <a:ln/>
        </p:spPr>
      </p:sp>
      <p:sp>
        <p:nvSpPr>
          <p:cNvPr id="10" name="Shape 8"/>
          <p:cNvSpPr/>
          <p:nvPr/>
        </p:nvSpPr>
        <p:spPr>
          <a:xfrm>
            <a:off x="4581144" y="1764792"/>
            <a:ext cx="502920" cy="502920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81144" y="237744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Vehicles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81144" y="2788920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detection, pedestrian recognition, obstacle avoidance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150876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C2154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7616" y="1764792"/>
            <a:ext cx="502920" cy="502920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57616" y="237744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&amp; Manufacturing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7616" y="2788920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inspection, inventory tracking, checkout-free stores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3075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C2154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" y="3986784"/>
            <a:ext cx="502920" cy="502920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986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4672" y="4599432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Surveillance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4672" y="5010912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recognition, anomaly and intrusion detection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25112" y="373075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C2154"/>
          </a:solidFill>
          <a:ln/>
        </p:spPr>
      </p:sp>
      <p:sp>
        <p:nvSpPr>
          <p:cNvPr id="25" name="Shape 23"/>
          <p:cNvSpPr/>
          <p:nvPr/>
        </p:nvSpPr>
        <p:spPr>
          <a:xfrm>
            <a:off x="4581144" y="3986784"/>
            <a:ext cx="502920" cy="502920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26" name="Text 24"/>
          <p:cNvSpPr/>
          <p:nvPr/>
        </p:nvSpPr>
        <p:spPr>
          <a:xfrm>
            <a:off x="4581144" y="3986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81144" y="4599432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Agriculture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81144" y="5010912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health monitoring, yield estimation via drone imagery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01584" y="373075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C2154"/>
          </a:solidFill>
          <a:ln/>
        </p:spPr>
      </p:sp>
      <p:sp>
        <p:nvSpPr>
          <p:cNvPr id="30" name="Shape 28"/>
          <p:cNvSpPr/>
          <p:nvPr/>
        </p:nvSpPr>
        <p:spPr>
          <a:xfrm>
            <a:off x="8357616" y="3986784"/>
            <a:ext cx="502920" cy="502920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31" name="Text 29"/>
          <p:cNvSpPr/>
          <p:nvPr/>
        </p:nvSpPr>
        <p:spPr>
          <a:xfrm>
            <a:off x="8357616" y="3986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57616" y="4599432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Augmented Reality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57616" y="5010912"/>
            <a:ext cx="30083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scene understanding for immersive overlays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and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349240" cy="594360"/>
          </a:xfrm>
          <a:prstGeom prst="roundRect">
            <a:avLst>
              <a:gd name="adj" fmla="val 18462"/>
            </a:avLst>
          </a:prstGeom>
          <a:solidFill>
            <a:srgbClr val="00D4B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74520"/>
            <a:ext cx="5349240" cy="182880"/>
          </a:xfrm>
          <a:prstGeom prst="rect">
            <a:avLst/>
          </a:prstGeom>
          <a:solidFill>
            <a:srgbClr val="00D4B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6304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286000"/>
            <a:ext cx="292608" cy="292608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24028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learns features — no manual engineering needed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3054096"/>
            <a:ext cx="292608" cy="292608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0540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008376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state-of-the-art, often human-level accuracy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822192"/>
            <a:ext cx="292608" cy="292608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776472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 with more data and compute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4590288"/>
            <a:ext cx="292608" cy="292608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90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54456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across diverse vision tasks (detection, segmentation, generation)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8680" y="5358384"/>
            <a:ext cx="292608" cy="292608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358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312664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improves through transfer learning and fine-tuning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1463040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1874520"/>
            <a:ext cx="5349240" cy="182880"/>
          </a:xfrm>
          <a:prstGeom prst="rect">
            <a:avLst/>
          </a:prstGeom>
          <a:solidFill>
            <a:srgbClr val="12163A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3640" y="1463040"/>
            <a:ext cx="5349240" cy="594360"/>
          </a:xfrm>
          <a:prstGeom prst="roundRect">
            <a:avLst>
              <a:gd name="adj" fmla="val 18462"/>
            </a:avLst>
          </a:prstGeom>
          <a:solidFill>
            <a:srgbClr val="12163A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1463040"/>
            <a:ext cx="5349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83680" y="2286000"/>
            <a:ext cx="292608" cy="292608"/>
          </a:xfrm>
          <a:prstGeom prst="ellipse">
            <a:avLst/>
          </a:prstGeom>
          <a:solidFill>
            <a:srgbClr val="E5E7F5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2286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40880" y="224028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huge labeled datasets and heavy compute resources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83680" y="3054096"/>
            <a:ext cx="292608" cy="292608"/>
          </a:xfrm>
          <a:prstGeom prst="ellipse">
            <a:avLst/>
          </a:prstGeom>
          <a:solidFill>
            <a:srgbClr val="E5E7F5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30540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3008376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'black box' — limited interpretability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583680" y="3822192"/>
            <a:ext cx="292608" cy="292608"/>
          </a:xfrm>
          <a:prstGeom prst="ellipse">
            <a:avLst/>
          </a:prstGeom>
          <a:solidFill>
            <a:srgbClr val="E5E7F5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40880" y="3776472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adversarial and biased training data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83680" y="4590288"/>
            <a:ext cx="292608" cy="292608"/>
          </a:xfrm>
          <a:prstGeom prst="ellipse">
            <a:avLst/>
          </a:prstGeom>
          <a:solidFill>
            <a:srgbClr val="E5E7F5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4590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40880" y="454456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rare edge cases and domain shifts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83680" y="5358384"/>
            <a:ext cx="292608" cy="292608"/>
          </a:xfrm>
          <a:prstGeom prst="ellipse">
            <a:avLst/>
          </a:prstGeom>
          <a:solidFill>
            <a:srgbClr val="E5E7F5"/>
          </a:solidFill>
          <a:ln/>
        </p:spPr>
      </p:sp>
      <p:sp>
        <p:nvSpPr>
          <p:cNvPr id="40" name="Text 38"/>
          <p:cNvSpPr/>
          <p:nvPr/>
        </p:nvSpPr>
        <p:spPr>
          <a:xfrm>
            <a:off x="6583680" y="5358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040880" y="5312664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energy and hardware cost for training large models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Developments and Trends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3749040"/>
            <a:ext cx="10698480" cy="0"/>
          </a:xfrm>
          <a:prstGeom prst="line">
            <a:avLst/>
          </a:prstGeom>
          <a:noFill/>
          <a:ln w="25400">
            <a:solidFill>
              <a:srgbClr val="5B4F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5044" y="3621024"/>
            <a:ext cx="256032" cy="256032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6" name="Text 4"/>
          <p:cNvSpPr/>
          <p:nvPr/>
        </p:nvSpPr>
        <p:spPr>
          <a:xfrm>
            <a:off x="1495044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559052" y="3685032"/>
            <a:ext cx="128016" cy="128016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8" name="Text 6"/>
          <p:cNvSpPr/>
          <p:nvPr/>
        </p:nvSpPr>
        <p:spPr>
          <a:xfrm>
            <a:off x="84582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5820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AlexNet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5820" y="27432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CNN wins ImageNet, launching modern DL-CV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78124" y="3621024"/>
            <a:ext cx="256032" cy="256032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12" name="Text 10"/>
          <p:cNvSpPr/>
          <p:nvPr/>
        </p:nvSpPr>
        <p:spPr>
          <a:xfrm>
            <a:off x="3278124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42132" y="3685032"/>
            <a:ext cx="128016" cy="128016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14" name="Text 12"/>
          <p:cNvSpPr/>
          <p:nvPr/>
        </p:nvSpPr>
        <p:spPr>
          <a:xfrm>
            <a:off x="2628900" y="3977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28900" y="4297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28900" y="46634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enable ultra-deep networks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61204" y="3621024"/>
            <a:ext cx="256032" cy="256032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18" name="Text 16"/>
          <p:cNvSpPr/>
          <p:nvPr/>
        </p:nvSpPr>
        <p:spPr>
          <a:xfrm>
            <a:off x="5061204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125212" y="3685032"/>
            <a:ext cx="128016" cy="128016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20" name="Text 18"/>
          <p:cNvSpPr/>
          <p:nvPr/>
        </p:nvSpPr>
        <p:spPr>
          <a:xfrm>
            <a:off x="441198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11980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Transformer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11980" y="27432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mechanisms applied directly to image patches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44284" y="3621024"/>
            <a:ext cx="256032" cy="256032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24" name="Text 22"/>
          <p:cNvSpPr/>
          <p:nvPr/>
        </p:nvSpPr>
        <p:spPr>
          <a:xfrm>
            <a:off x="6844284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908292" y="3685032"/>
            <a:ext cx="128016" cy="128016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26" name="Text 24"/>
          <p:cNvSpPr/>
          <p:nvPr/>
        </p:nvSpPr>
        <p:spPr>
          <a:xfrm>
            <a:off x="6195060" y="3977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5060" y="4297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 &amp; Multimodal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95060" y="46634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vision–language models understand images via text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627364" y="3621024"/>
            <a:ext cx="256032" cy="256032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30" name="Text 28"/>
          <p:cNvSpPr/>
          <p:nvPr/>
        </p:nvSpPr>
        <p:spPr>
          <a:xfrm>
            <a:off x="8627364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691372" y="3685032"/>
            <a:ext cx="128016" cy="128016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32" name="Text 30"/>
          <p:cNvSpPr/>
          <p:nvPr/>
        </p:nvSpPr>
        <p:spPr>
          <a:xfrm>
            <a:off x="7978140" y="20574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78140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Models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978140" y="274320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Anything, generative diffusion vision models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0410444" y="3621024"/>
            <a:ext cx="256032" cy="256032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36" name="Text 34"/>
          <p:cNvSpPr/>
          <p:nvPr/>
        </p:nvSpPr>
        <p:spPr>
          <a:xfrm>
            <a:off x="10410444" y="36210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10474452" y="3685032"/>
            <a:ext cx="128016" cy="128016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38" name="Text 36"/>
          <p:cNvSpPr/>
          <p:nvPr/>
        </p:nvSpPr>
        <p:spPr>
          <a:xfrm>
            <a:off x="9761220" y="39776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761220" y="4297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&amp; Efficient AI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761220" y="4663440"/>
            <a:ext cx="1554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models bring vision AI to mobile &amp; IoT devices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4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57400"/>
            <a:ext cx="411480" cy="411480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and consent in visual data collection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17520"/>
            <a:ext cx="411480" cy="411480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8346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and fairness across demographics and environments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977640"/>
            <a:ext cx="411480" cy="411480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79476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computational and environmental cost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7548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937760"/>
            <a:ext cx="411480" cy="411480"/>
          </a:xfrm>
          <a:prstGeom prst="ellipse">
            <a:avLst/>
          </a:prstGeom>
          <a:solidFill>
            <a:srgbClr val="12163A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937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475488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of model decisions in critical systems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4173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F9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18745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2163A"/>
          </a:solidFill>
          <a:ln/>
        </p:spPr>
      </p:sp>
      <p:sp>
        <p:nvSpPr>
          <p:cNvPr id="23" name="Shape 21"/>
          <p:cNvSpPr/>
          <p:nvPr/>
        </p:nvSpPr>
        <p:spPr>
          <a:xfrm>
            <a:off x="6492240" y="2057400"/>
            <a:ext cx="411480" cy="411480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2057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86600" y="187452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learning to reduce labeling dependency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28346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2163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92240" y="3017520"/>
            <a:ext cx="411480" cy="411480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86600" y="283464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Efficient, low-power models for edge and mobile devices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63640" y="37947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2163A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0" y="3977640"/>
            <a:ext cx="411480" cy="411480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3977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86600" y="379476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AI combining vision, language, and reasoning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47548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2163A"/>
          </a:solidFill>
          <a:ln/>
        </p:spPr>
      </p:sp>
      <p:sp>
        <p:nvSpPr>
          <p:cNvPr id="35" name="Shape 33"/>
          <p:cNvSpPr/>
          <p:nvPr/>
        </p:nvSpPr>
        <p:spPr>
          <a:xfrm>
            <a:off x="6492240" y="4937760"/>
            <a:ext cx="411480" cy="411480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36" name="Text 34"/>
          <p:cNvSpPr/>
          <p:nvPr/>
        </p:nvSpPr>
        <p:spPr>
          <a:xfrm>
            <a:off x="6492240" y="4937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86600" y="4754880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E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Trustworthy, explainable AI for regulated industries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Study: AI-Powered Diabetic Retinopathy Screening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Health developed a deep-learning CNN model to detect diabetic retinopathy — a leading cause of blindness — from retinal fundus photographs, aiming to expand access to eye-disease screening in under-resourced regions.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834640"/>
            <a:ext cx="457200" cy="457200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41071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77647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128,000+ retinal images labeled by ophthalmologists for training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26060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11880" y="2834640"/>
            <a:ext cx="457200" cy="457200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341071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377647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CNN trained to classify disease severity levels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6060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5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2834640"/>
            <a:ext cx="457200" cy="457200"/>
          </a:xfrm>
          <a:prstGeom prst="ellipse">
            <a:avLst/>
          </a:prstGeom>
          <a:solidFill>
            <a:srgbClr val="5B4FE9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46520" y="341071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77647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5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certified specialists on unseen clinical images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52560" y="260604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12163A"/>
          </a:solidFill>
          <a:ln w="12700">
            <a:solidFill>
              <a:srgbClr val="1216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2834640"/>
            <a:ext cx="457200" cy="457200"/>
          </a:xfrm>
          <a:prstGeom prst="ellipse">
            <a:avLst/>
          </a:prstGeom>
          <a:solidFill>
            <a:srgbClr val="00D4B5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1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81160" y="341071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81160" y="377647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or exceeded expert-level diagnostic accuracy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48920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for Computer Vision has transformed how machines perceive the visual world — moving from rigid, rule-based systems to adaptive models that learn directly from data. It now powers breakthroughs across healthcare, mobility, industry, and security. As models become more efficient, explainable, and multimodal, DL-CV will remain central to the next generation of intelligent systems.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B5"/>
                </a:solidFill>
              </a:rPr>
              <a:t>•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Krizhevsky, A., Sutskever, I., &amp; Hinton, G. (2012). ImageNet Classification with Deep CNNs. NeurIPS.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995928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B5"/>
                </a:solidFill>
              </a:rPr>
              <a:t>•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99592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He, K., Zhang, X., Ren, S., &amp; Sun, J. (2016). Deep Residual Learning for Image Recognition. CVPR.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379976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B5"/>
                </a:solidFill>
              </a:rPr>
              <a:t>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37997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Dosovitskiy, A. et al. (2020). An Image is Worth 16x16 Words: Vision Transformers. ICLR.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764024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B5"/>
                </a:solidFill>
              </a:rPr>
              <a:t>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76402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Gulshan, V. et al. (2016). Deep Learning for Diabetic Retinopathy Detection. JAMA.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148072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B5"/>
                </a:solidFill>
              </a:rPr>
              <a:t>•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14807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Goodfellow, I., Bengio, Y., &amp; Courville, A. (2016). Deep Learning. MIT Press.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806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B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15CA17-9E4A-24EB-51BF-42358E9B0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727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1013</Words>
  <Application>Microsoft Office PowerPoint</Application>
  <PresentationFormat>Widescreen</PresentationFormat>
  <Paragraphs>209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kalyan nalla</cp:lastModifiedBy>
  <cp:revision>3</cp:revision>
  <dcterms:created xsi:type="dcterms:W3CDTF">2026-08-25T07:59:57Z</dcterms:created>
  <dcterms:modified xsi:type="dcterms:W3CDTF">2026-08-27T02:38:28Z</dcterms:modified>
</cp:coreProperties>
</file>